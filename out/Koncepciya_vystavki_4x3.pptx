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ovrhistory.ru/learning/training/3148_2026_proektirovanie_muzeynih_ekspoziciy.pdf" TargetMode="External"/><Relationship Id="rId2" Type="http://schemas.openxmlformats.org/officeDocument/2006/relationships/hyperlink" Target="https://kmu.itmo.ru/file/download/application/25781" TargetMode="External"/><Relationship Id="rId3" Type="http://schemas.openxmlformats.org/officeDocument/2006/relationships/hyperlink" Target="https://mel.fm/novosti/1357406-drugaia-redaktsia" TargetMode="External"/><Relationship Id="rId4" Type="http://schemas.openxmlformats.org/officeDocument/2006/relationships/hyperlink" Target="https://realty.rbc.ru/news/5da82d6e9a7947053378adff" TargetMode="External"/><Relationship Id="rId5" Type="http://schemas.openxmlformats.org/officeDocument/2006/relationships/hyperlink" Target="https://www.hermitagemuseum.org/news/news_441_24?lng=ru" TargetMode="External"/><Relationship Id="rId6" Type="http://schemas.openxmlformats.org/officeDocument/2006/relationships/hyperlink" Target="https://www.culture.ru/events/514040/vystavka-shukhov-formula-arkhitektury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Moscow,_Garage_Museum_building_in_Gorky_Park_(18910681363).jpg" TargetMode="External"/><Relationship Id="rId2" Type="http://schemas.openxmlformats.org/officeDocument/2006/relationships/hyperlink" Target="https://commons.wikimedia.org/wiki/File:VDNKh_Pavilion_No_26_Transport.jpg" TargetMode="External"/><Relationship Id="rId3" Type="http://schemas.openxmlformats.org/officeDocument/2006/relationships/hyperlink" Target="https://commons.wikimedia.org/wiki/File:Oval_pavilion_by_Vladimir_Shukhov_in_Nizhny_Novgorod_1896_(cropped).jpg" TargetMode="External"/><Relationship Id="rId4" Type="http://schemas.openxmlformats.org/officeDocument/2006/relationships/hyperlink" Target="https://www.hermitagemuseum.org/news/news_441_24?lng=ru" TargetMode="External"/><Relationship Id="rId5" Type="http://schemas.openxmlformats.org/officeDocument/2006/relationships/hyperlink" Target="https://commons.wikimedia.org/wiki/File:Moscow_-_2025-9_-_Tretyakov_Gallery,_Krymsky_Val.jpg" TargetMode="External"/><Relationship Id="rId6" Type="http://schemas.openxmlformats.org/officeDocument/2006/relationships/hyperlink" Target="https://commons.wikimedia.org/wiki/File:World_First_membrane_roof_and_lattice_shell_by_Shukhov_1896.jpg" TargetMode="External"/><Relationship Id="rId7" Type="http://schemas.openxmlformats.org/officeDocument/2006/relationships/hyperlink" Target="https://commons.wikimedia.org/wiki/File:First_Shukhov_Tower_Nizhny_Novgorod_1896.jpg" TargetMode="External"/><Relationship Id="rId8" Type="http://schemas.openxmlformats.org/officeDocument/2006/relationships/hyperlink" Target="https://commons.wikimedia.org/wiki/File:The_General_Staff_Building_-_Room_of_Sal%C3%B3n_de_Par%C3%ADs_01.jpg" TargetMode="External"/><Relationship Id="rId9" Type="http://schemas.openxmlformats.org/officeDocument/2006/relationships/hyperlink" Target="https://commons.wikimedia.org/wiki/File:Moscow,_Ostozhenka_16_exhibition_hall_interior_(18997883949).jp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ilantievmax/projects/personal/pptx/img/ru/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417320"/>
            <a:ext cx="82296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ИТОГОВОЕ МЕРОПРИЯТИЕ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дисциплине «Теория и методика обучения дизайну»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ВЫСТАВКИ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План-конспект занятия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[ФИО студента]   ·   [Группа]   · 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1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Вводная часть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ЗАНЯТИЯ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«Концепция выставки как дизайн-проект»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представление о принципах разработки концепции выставки и показать путь от идеи к пространственному решению.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Раскрыть понятие «концепция выставки».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Определить составляющие выставочного проекта.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Познакомить с этапами разработки концепции.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Научить формулировать ключевую идею выставки.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Научить переводить идею в сценарий пространства.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Сформировать навык аргументации решения.</a:t>
            </a:r>
            <a:endParaRPr lang="en-US" sz="1150" dirty="0"/>
          </a:p>
        </p:txBody>
      </p:sp>
      <p:pic>
        <p:nvPicPr>
          <p:cNvPr id="13" name="Image 0" descr="/home/silantievmax/projects/personal/pptx/img/ru/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371600"/>
            <a:ext cx="2834640" cy="1737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60720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1. Здание музея «Гараж» в Парке Горького, Москва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3657600"/>
            <a:ext cx="28346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657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3995928"/>
            <a:ext cx="0" cy="109728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760720" y="4114800"/>
            <a:ext cx="28346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4114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78040" y="4453128"/>
            <a:ext cx="0" cy="109728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760720" y="4572000"/>
            <a:ext cx="28346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4572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78040" y="4910328"/>
            <a:ext cx="0" cy="109728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760720" y="5029200"/>
            <a:ext cx="2834640" cy="329184"/>
          </a:xfrm>
          <a:prstGeom prst="roundRect">
            <a:avLst>
              <a:gd name="adj" fmla="val 22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50292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62356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623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Форма: </a:t>
            </a:r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+ мини-практикум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64408" y="562356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55848" y="5623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Продолжительность: </a:t>
            </a:r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минут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980176" y="562356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71616" y="5623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</a:t>
            </a:r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концептуальная карта выставки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ВЫСТАВКА — ЭТО ДИЗАЙН-ПРОЕКТ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мы проектируем?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 — не просто размещение экспонатов в помещении. В проекте одновременно решаются: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21488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смысловое сообщение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 выставки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26060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восприятия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 посетителя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88920" y="30632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пространства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экспозиционное оборудование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88920" y="35204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графика и навигация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 и цвет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88920" y="39776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интерактивные элементы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</a:t>
            </a:r>
            <a:endParaRPr lang="en-US" sz="1050" dirty="0"/>
          </a:p>
        </p:txBody>
      </p:sp>
      <p:pic>
        <p:nvPicPr>
          <p:cNvPr id="30" name="Image 0" descr="/home/silantievmax/projects/personal/pptx/img/ru/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371600"/>
            <a:ext cx="3474720" cy="17830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120640" y="3172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2. Павильон № 26 «Транспорт» на ВДНХ, Москва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94960" y="36576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4960" y="3657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120640" y="42976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064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309360" y="42976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498080" y="42976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9808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394960" y="4937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9496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ЦЕЛОСТНЫЙ ОПЫТ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858000" y="4050792"/>
            <a:ext cx="0" cy="23774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858000" y="4672584"/>
            <a:ext cx="0" cy="256032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48640" y="54864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5486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отвечает на вопрос «что показать», концепция — «зачем и как это показать».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2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Содержание лекции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должна понять аудитория после посещения?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64408" y="1463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60020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04488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1568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создаётся выставка?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0176" y="1463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60020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0256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17336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какой последовательности посетитель получает информацию?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74904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343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идея переводится в маршрут, зоны и экспозицию?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64408" y="36118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374904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04488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язык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01568" y="43434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цвет, свет, графика, материалы и оборудование поддерживают идею?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0176" y="36118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361188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принцип: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смысл →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форма.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5760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→ Аудитория → Сценарий → Пространство → Образ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СЛАЙД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 выставки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 — краткая формулировка того, что выставка хочет сообщить посетителю и почему это важно.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ОНА ОТВЕЧАЕТ НА ВОПРОСЫ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чём выставка?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хотим сказать?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это важно?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Какое впечатление получит посетитель?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он должен понять или почувствовать?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490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Формула: </a:t>
            </a:r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исследую ______, чтобы показать ______ и помочь посетителю понять ______.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Слабая идея: </a:t>
            </a:r>
            <a:pPr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«Выставка о русском авангарде».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Сильнее: </a:t>
            </a:r>
            <a:pPr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авангард вывел искусство из рамы в повседневную жизнь».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0" y="137160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≠ КОНЦЕПЦИЯ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1920240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9202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ТЕМА: </a:t>
            </a:r>
            <a:pPr indent="0" marL="0">
              <a:buNone/>
            </a:pPr>
            <a:r>
              <a:rPr lang="en-US" sz="10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русский авангард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2368296"/>
            <a:ext cx="0" cy="109728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03520" y="2487168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4871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ВОПРОС: </a:t>
            </a:r>
            <a:pPr indent="0" marL="0">
              <a:buNone/>
            </a:pPr>
            <a:r>
              <a:rPr lang="en-US" sz="10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искусство вошло в быт?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2935224"/>
            <a:ext cx="0" cy="109728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03520" y="3054096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30540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авангард проектировал среду жизни</a:t>
            </a:r>
            <a:endParaRPr lang="en-US" sz="1000" dirty="0"/>
          </a:p>
        </p:txBody>
      </p:sp>
      <p:pic>
        <p:nvPicPr>
          <p:cNvPr id="23" name="Image 0" descr="/home/silantievmax/projects/personal/pptx/img/ru/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3749040"/>
            <a:ext cx="3291840" cy="1828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303520" y="5596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3. Овальный павильон В. Г. Шухова на Всероссийской выставке, Нижний Новгород, 1896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 И СЦЕНАРИЙ ПОСЕТИТЕЛЯ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объекта к посетителю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посетитель?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подготовки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мотивация посещения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уровень информации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особенности восприятия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посетитель?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830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2194560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37560" y="2313432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3134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ОРИЕНТАЦИЯ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724912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37560" y="2843784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8437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ЗНАКОМСТВО С ИДЕЕЙ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3255264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37560" y="3374136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3741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3785616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37560" y="3904488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904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ЭПИЗОД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4315968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37560" y="4434840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4348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/ РЕФЛЕКСИЯ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в плане (схема автора)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943600" y="178308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B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263640" y="2304288"/>
            <a:ext cx="365760" cy="713232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20840" y="2286000"/>
            <a:ext cx="411480" cy="64008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7223760" y="2258568"/>
            <a:ext cx="365760" cy="667512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680960" y="2240280"/>
            <a:ext cx="457200" cy="7315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26480" y="3017520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2011680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86600" y="2926080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1965960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92440" y="2971800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Вход → 2 Знакомство → 3 Исследование → 4 Кульминация → 5 Выход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0" y="40233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4023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«Пользователи хотят видеть в инструкции к выставке концепцию выставки, продолжительность выставки и карту маршрута»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Никифорова А. Д., Университет ИТМО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212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212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выставки — это часть повествования.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должна учитывать всех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/home/silantievmax/projects/personal/pptx/img/ru/venn_dostupn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283464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0" y="1371600"/>
            <a:ext cx="4480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14264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Физическая доступность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5196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маршрут, ширина проходов, высота элементов, места отдыха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0" y="2286000"/>
            <a:ext cx="4480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23408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доступность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51960" y="2651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текста, контраст, субтитры, альтернативные форматы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0" y="3200400"/>
            <a:ext cx="4480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3255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Сенсорная доступность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5196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звук, свет, тактильные элементы, выбор уровня нагрузки</a:t>
            </a:r>
            <a:endParaRPr lang="en-US" sz="1050" dirty="0"/>
          </a:p>
        </p:txBody>
      </p:sp>
      <p:pic>
        <p:nvPicPr>
          <p:cNvPr id="17" name="Image 1" descr="/home/silantievmax/projects/personal/pptx/img/ru/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343400"/>
            <a:ext cx="2331720" cy="1554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5916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4. Тактильная копия чернолаковой гидрии IV в. до н. э. Государственный Эрмитаж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108960" y="43434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Эрмитаж, инклюзивная программа «Искусство в ощущениях»: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декабре 2024 г. в Двадцатиколонном зале на постоянной экспозиции появилась тактильная копия чернолаковой гидрии IV в. до н. э. Макет создан цифровым моделированием, напечатан на 3D-принтере, обработан и расписан вручную.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ГЦМСИР: </a:t>
            </a:r>
            <a:pPr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«Организация доступной среды» — отдельная тема программы проектирования экспозиций.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3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Структура занятия — 90 минут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54808" cy="384048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265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30880" y="1371600"/>
            <a:ext cx="2654808" cy="384048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0880" y="1371600"/>
            <a:ext cx="265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13120" y="1371600"/>
            <a:ext cx="1760728" cy="38404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3120" y="1371600"/>
            <a:ext cx="1760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01280" y="1371600"/>
            <a:ext cx="866648" cy="384048"/>
          </a:xfrm>
          <a:prstGeom prst="rect">
            <a:avLst/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1280" y="1371600"/>
            <a:ext cx="866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ОБОСНОВАТЬ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48640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011680"/>
            <a:ext cx="2606040" cy="64008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 мин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Вводная часть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Проблемный вопрос: «Можно ли назвать выставкой помещение, в котором просто расставлены экспонаты?» Краткое обсуждение.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4408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4408" y="2011680"/>
            <a:ext cx="2606040" cy="64008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 мин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Мини-лекция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01568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Понятие концепции. Ключевая идея. Аудитория. Сценарий.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0176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0176" y="2011680"/>
            <a:ext cx="2606040" cy="64008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7336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мин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17336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примера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17336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реальной выставки.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886200"/>
            <a:ext cx="2606040" cy="64008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45–60 мин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315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 технологии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4754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идеи к пространству.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4408" y="38862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64408" y="3886200"/>
            <a:ext cx="260604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 мин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01568" y="4315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задание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01568" y="4754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собственной мини-концепции.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80176" y="38862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0176" y="3886200"/>
            <a:ext cx="2606040" cy="64008"/>
          </a:xfrm>
          <a:prstGeom prst="rect">
            <a:avLst/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80–90 мин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17336" y="4315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и обратная связь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17336" y="4754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студент представляет решение.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5852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 → ПРОАНАЛИЗИРОВАТЬ → СОЗДАТЬ → ОБОСНОВАТЬ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«Третьяковка: Другая редакция»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Выставка-эксперимент в Новой Третьяковке на Крымском валу, 26 июля – 26 августа 2018 г. Проект Третьяковской галереи и магистерской программы Advanced Urban Design (Институт «Стрелка» и ВШЭ); куратор — Анастасия Смирнова.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 музей — это город. Авторы называют Третьяковку «огромным организмом», по структуре напоминающим мегаполис.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Колоннада у входа со стороны Москвы-реки: каждая колонна — инсталляция. «Другой маршрут» ведёт через залы постоянной экспозиции; комментарии дают писатели, художники, архитекторы. Навигация: буклеты и волонтёры с жёлтыми значками.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720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«музей как город» → колоннада и «Другой маршрут»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303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проявляется в способе движения и восприятия.</a:t>
            </a:r>
            <a:endParaRPr lang="en-US" sz="1600" dirty="0"/>
          </a:p>
        </p:txBody>
      </p:sp>
      <p:pic>
        <p:nvPicPr>
          <p:cNvPr id="12" name="Image 0" descr="/home/silantievmax/projects/personal/pptx/img/ru/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371600"/>
            <a:ext cx="3749040" cy="2514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4632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5. Здание Новой Третьяковки на Крымском валу, Москва, 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0" y="4480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показывает кейс: идея превращается в пространственные решения — вход, маршрут, навигацию.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«Шухов. Формула архитектуры»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Музей архитектуры имени А. В. Щусева, Москва; открытие 22 октября 2019 г.; проект подготовлен вместе с фондом «Шуховская башня».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Крупнейший показ наследия В. Г. Шухова за 25 лет: более 300 предметов — чертежи, макеты, фотографии, рукописи.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экспозиции — два изобретения: стальные сетчатые перекрытия и гиперболоидные сооружения. Часть материалов связана со строительством павильонов Всероссийской выставки 1896 г. в Нижнем Новгороде.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987552" cy="640080"/>
          </a:xfrm>
          <a:prstGeom prst="roundRect">
            <a:avLst>
              <a:gd name="adj" fmla="val 11429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9377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Наследие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27632" y="4937760"/>
            <a:ext cx="987552" cy="640080"/>
          </a:xfrm>
          <a:prstGeom prst="roundRect">
            <a:avLst>
              <a:gd name="adj" fmla="val 11429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7632" y="49377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изобретения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6624" y="4937760"/>
            <a:ext cx="987552" cy="640080"/>
          </a:xfrm>
          <a:prstGeom prst="roundRect">
            <a:avLst>
              <a:gd name="adj" fmla="val 11429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49377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предметов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85616" y="4937760"/>
            <a:ext cx="987552" cy="640080"/>
          </a:xfrm>
          <a:prstGeom prst="roundRect">
            <a:avLst>
              <a:gd name="adj" fmla="val 1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49377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</a:t>
            </a:r>
            <a:endParaRPr lang="en-US" sz="850" dirty="0"/>
          </a:p>
        </p:txBody>
      </p:sp>
      <p:pic>
        <p:nvPicPr>
          <p:cNvPr id="16" name="Image 0" descr="/home/silantievmax/projects/personal/pptx/img/ru/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566160" cy="2194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0" y="35935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6. Сетчатая оболочка и мембранная кровля В. Г. Шухова, 1896. Фото А. О. Карелина</a:t>
            </a:r>
            <a:endParaRPr lang="en-US" sz="900" dirty="0"/>
          </a:p>
        </p:txBody>
      </p:sp>
      <p:pic>
        <p:nvPicPr>
          <p:cNvPr id="18" name="Image 1" descr="/home/silantievmax/projects/personal/pptx/img/ru/1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4160520"/>
            <a:ext cx="3566160" cy="1554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0" y="5742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 Гиперболоидная башня Шухова на выставке 1896 г., Нижний Новгород. Фото А. О. Карелина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РАБОТЫ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создания концепции выставки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0" cy="3566160"/>
          </a:xfrm>
          <a:prstGeom prst="line">
            <a:avLst/>
          </a:prstGeom>
          <a:noFill/>
          <a:ln w="25400">
            <a:solidFill>
              <a:srgbClr val="D9D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371600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53896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3716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3716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тема, проблема, ограничения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011680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093976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0116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0116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материалы, объекты, контекст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2651760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34056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2651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26517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создаётся выставка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7280" y="3291840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3291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2918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сообщение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3931920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14216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3931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0" y="39319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восприятия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97280" y="4572000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654296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80160" y="4572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 И ОБРАЗ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23360" y="45720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планировка, свет, цвет, материалы, графика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97280" y="5212080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294376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80160" y="5212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И КОРРЕКЦИЯ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23360" y="52120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решения и доработка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5897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итеративен: каждый шаг проверяется и возвращает к предыдущему.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Практикум: разработать концепцию выставки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Небольшая тематическая выставка. За 20 минут разработайте: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короткое и запоминающееся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Ключевую идею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предложения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9626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Аудиторию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посетитель?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5753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тематические зоны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например: Введение → Исследование → Финал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187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движения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посетитель проходит выставку?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37176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800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образ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цвета, материал, свет, графический приём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449824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5413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Интерактивный элемент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посетитель делает, а не только смотрит?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94960" y="137160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Концепт-лист (пример)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532120" y="187452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90195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«Искусство вокруг нас»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532120" y="267919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BE3DA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7066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авангард проектировал среду жизни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532120" y="3483864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351129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1 курса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32120" y="4288536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43159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ЗОНЫ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Введение → 2 Опыты → 3 Быт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532120" y="5093208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51206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ОБРАЗ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+ чёрный + белый, фанера, прожекторный свет, крупный шрифт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4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Методика проведения занятия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«лекция»: показываем, как именно преподаватель работает со студентами.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Проблемное обучение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вопроса: «Что превращает набор экспонатов в выставку?»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874520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04488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Объяснительно-иллюстративный метод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01568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 реальных выставочных решений.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0176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7336" y="187452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0256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17336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кейса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17336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разбирают существующую выставку.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Проектный метод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собственной концепции.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64408" y="39319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1568" y="406908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04488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01568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Визуальное моделирование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01568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маршрута, план, мудборд.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0176" y="39319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17336" y="4069080"/>
            <a:ext cx="365760" cy="36576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20256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17336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 и критика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17336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решения и обратная связь.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5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Оценочные средства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Критериальная рубрика на 20 баллов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4206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Баллы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7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Чёткость идеи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Соответствие идеи аудитории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Логика сценария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Связь пространства и концепции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Визуальная целостность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Аргументация решения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0" y="1691640"/>
            <a:ext cx="914400" cy="73152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691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1691640"/>
            <a:ext cx="265176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целостная, аргументированная концепция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0" y="2532888"/>
            <a:ext cx="914400" cy="731520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5328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14–17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2532888"/>
            <a:ext cx="265176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5328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сформирована, есть что дорабатывать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0" y="3374136"/>
            <a:ext cx="914400" cy="7315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337413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0" y="3374136"/>
            <a:ext cx="265176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37413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понятна частично, связи слабые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0" y="4215384"/>
            <a:ext cx="914400" cy="731520"/>
          </a:xfrm>
          <a:prstGeom prst="rect">
            <a:avLst/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421538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0–9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43600" y="4215384"/>
            <a:ext cx="265176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421538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целостной концепции нет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52578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257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Оцениваем не только результат, но и процесс: аргументацию, решения, работу с обратной связью.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6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Элементы педагогической техники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64008" cy="15544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Речь преподавателя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короткие инструкции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чёткая постановка задачи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вместо готовых ответов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терминология с объяснением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81328"/>
            <a:ext cx="64008" cy="15544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Визуальная демонстрация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выставки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схемы и планы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фотографии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эскизы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01568"/>
            <a:ext cx="64008" cy="15544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работы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индивидуальная работа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в парах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краткая презентация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взаимная критика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401568"/>
            <a:ext cx="64008" cy="15544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7947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работает?»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не работает?»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можно изменить?»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03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не проектирует выставку за студента — он создаёт условия для самостоятельного решения.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ЗАНЯТИЯ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что должен уметь студент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051560" cy="603504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ЗНАЕТ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00200" y="1371600"/>
            <a:ext cx="3611880" cy="603504"/>
          </a:xfrm>
          <a:prstGeom prst="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3716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концепция выставки и из чего она состоит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1051560" cy="603504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84832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600200" y="2084832"/>
            <a:ext cx="3611880" cy="603504"/>
          </a:xfrm>
          <a:prstGeom prst="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08483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сформулировать ключевую идею и определить аудиторию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798064"/>
            <a:ext cx="1051560" cy="603504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98064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00200" y="2798064"/>
            <a:ext cx="3611880" cy="603504"/>
          </a:xfrm>
          <a:prstGeom prst="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27980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простой сценарий движения посетителя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11296"/>
            <a:ext cx="1051560" cy="603504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1129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600200" y="3511296"/>
            <a:ext cx="3611880" cy="603504"/>
          </a:xfrm>
          <a:prstGeom prst="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5112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связать содержание с пространственным и визуальным решением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1051560" cy="603504"/>
          </a:xfrm>
          <a:prstGeom prst="rect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2452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600200" y="4224528"/>
            <a:ext cx="3611880" cy="603504"/>
          </a:xfrm>
          <a:prstGeom prst="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422452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представить и аргументировать свою концепцию</a:t>
            </a:r>
            <a:endParaRPr lang="en-US" sz="1050" dirty="0"/>
          </a:p>
        </p:txBody>
      </p:sp>
      <p:pic>
        <p:nvPicPr>
          <p:cNvPr id="27" name="Image 0" descr="/home/silantievmax/projects/personal/pptx/img/ru/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371600"/>
            <a:ext cx="3108960" cy="19659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486400" y="3364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8. Зал живописи Парижского салона в здании Главного штаба Эрмитажа, Санкт-Петербург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0" y="39319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0" y="39319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086600" y="39319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39319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0" y="4434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0" y="4434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086600" y="4434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86600" y="4434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48640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 → коррекция концепции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48640" y="534924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 — не набор экспонатов, а спроектированный опыт посетителя.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РАЗДЕЛ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Библиографический список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1928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Проектирование музейных экспозиций исторического профиля: программа стажировки работников музеев [Электронный ресурс]. М.: ГЦМСИР, 2025. URL: </a:t>
            </a:r>
            <a:pPr indent="0" marL="0">
              <a:buNone/>
            </a:pPr>
            <a:r>
              <a:rPr lang="en-US" sz="10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https://www.sovrhistory.ru/learning/training/3148_2026_proektirovanie_muzeynih_ekspoziciy.pdf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Никифорова А. Д. Разработка пользовательского сценария «Пространства интерпретаций» в Музее истории религии [Электронный ресурс] / науч. рук. А. А. Пучковская. Университет ИТМО, 2022. URL: </a:t>
            </a:r>
            <a:pPr indent="0" marL="0">
              <a:buNone/>
            </a:pPr>
            <a:r>
              <a:rPr lang="en-US" sz="10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https://kmu.itmo.ru/file/download/application/25781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На Крымском валу проходит выставка-эксперимент «Третьяковка: Другая редакция» [Электронный ресурс] // Мел. 25.07.2018. URL: </a:t>
            </a:r>
            <a:pPr indent="0" marL="0">
              <a:buNone/>
            </a:pPr>
            <a:r>
              <a:rPr lang="en-US" sz="10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https://mel.fm/novosti/1357406-drugaia-redaktsia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Мамаева О. В Москве покажут самую большую выставку гиперболоидных построек Шухова [Электронный ресурс] // РБК Недвижимость. 17.10.2019. URL: </a:t>
            </a:r>
            <a:pPr indent="0" marL="0">
              <a:buNone/>
            </a:pPr>
            <a:r>
              <a:rPr lang="en-US" sz="10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https://realty.rbc.ru/news/5da82d6e9a7947053378adff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 Эрмитаже появился новый тактильный экспонат [Электронный ресурс] // Государственный Эрмитаж. 18.12.2024. URL: </a:t>
            </a:r>
            <a:pPr indent="0" marL="0">
              <a:buNone/>
            </a:pPr>
            <a:r>
              <a:rPr lang="en-US" sz="10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https://www.hermitagemuseum.org/news/news_441_24?lng=ru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Шухов. Формула архитектуры [Электронный ресурс] // Культура.РФ. 2019. URL: </a:t>
            </a:r>
            <a:pPr indent="0" marL="0">
              <a:buNone/>
            </a:pPr>
            <a:r>
              <a:rPr lang="en-US" sz="10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https://www.culture.ru/events/514040/vystavka-shukhov-formula-arkhitektury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8019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обращения к электронным ресурсам: [указать дату].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РАЗДЕЛ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иллюстраций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072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19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1. Здание музея «Гараж» в Парке Горького, Москва. Sergey Norin, 08.07.2015. Источник: Wikimedia Commons. CC BY 2.0.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https://commons.wikimedia.org/wiki/File:Moscow,_Garage_Museum_building_in_Gorky_Park_(18910681363).jpg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2. Павильон № 26 «Транспорт» на ВДНХ, Москва. Dmitry Ivanov, 04.07.2015. Источник: Wikimedia Commons. CC BY-SA 4.0.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https://commons.wikimedia.org/wiki/File:VDNKh_Pavilion_No_26_Transport.jpg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3. Овальный павильон В. Г. Шухова на Всероссийской выставке, Нижний Новгород, 1896. Автор неизвестен. Источник: Wikimedia Commons. общественное достояние.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https://commons.wikimedia.org/wiki/File:Oval_pavilion_by_Vladimir_Shukhov_in_Nizhny_Novgorod_1896_(cropped).jpg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4. Тактильная копия чернолаковой гидрии IV в. до н. э. (Двадцатиколонный зал). Государственный Эрмитаж, опубл. 18.12.2024. Фото с официального сайта музея. Источник: Государственный Эрмитаж, «В Эрмитаже появился новый тактильный экспонат».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https://www.hermitagemuseum.org/news/news_441_24?lng=ru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5. Здание Новой Третьяковки на Крымском валу, Москва. Юрий Д.К., 15.09.2025. Источник: Wikimedia Commons. CC BY 4.0.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https://commons.wikimedia.org/wiki/File:Moscow_-_2025-9_-_Tretyakov_Gallery,_Krymsky_Val.jpg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6. Сетчатая оболочка и мембранная кровля В. Г. Шухова, 1896. А. О. Карелин. Источник: Wikimedia Commons. общественное достояние.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https://commons.wikimedia.org/wiki/File:World_First_membrane_roof_and_lattice_shell_by_Shukhov_1896.jpg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7. Гиперболоидная башня В. Г. Шухова, Нижний Новгород, 1896. А. О. Карелин. Источник: Wikimedia Commons. общественное достояние.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https://commons.wikimedia.org/wiki/File:First_Shukhov_Tower_Nizhny_Novgorod_1896.jpg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8. Зал живописи Парижского салона в здании Главного штаба Эрмитажа, Санкт-Петербург. Netelo, 17.08.2018. Источник: Wikimedia Commons. CC BY-SA 4.0.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https://commons.wikimedia.org/wiki/File:The_General_Staff_Building_-_Room_of_Sal%C3%B3n_de_Par%C3%ADs_01.jpg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 титульного слайда: выставочный зал Московского дома фотографии, Остоженка, 16, Москва. Gennady Grachev, 03.04.2015. Источник: Wikimedia Commons, CC BY 2.0. </a:t>
            </a:r>
            <a:pPr indent="0" marL="0">
              <a:buNone/>
            </a:pPr>
            <a:r>
              <a:rPr lang="en-US" sz="85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https://commons.wikimedia.org/wiki/File:Moscow,_Ostozhenka_16_exhibition_hall_interior_(18997883949).jpg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Дизайн-проект: концепция выставки</dc:title>
  <dc:subject>PptxGenJS Presentation</dc:subject>
  <dc:creator>PptxGenJS</dc:creator>
  <cp:lastModifiedBy>PptxGenJS</cp:lastModifiedBy>
  <cp:revision>1</cp:revision>
  <dcterms:created xsi:type="dcterms:W3CDTF">2026-10-23T10:32:57Z</dcterms:created>
  <dcterms:modified xsi:type="dcterms:W3CDTF">2026-10-23T10:32:57Z</dcterms:modified>
</cp:coreProperties>
</file>