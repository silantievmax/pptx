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am-us.org/2013/03/01/the-concept-of-an-exhibition/" TargetMode="External"/><Relationship Id="rId2" Type="http://schemas.openxmlformats.org/officeDocument/2006/relationships/hyperlink" Target="https://www.vam.ac.uk/blog/museum-life/from-idea-to-installation-how-a-display-is-made-at-the-va" TargetMode="External"/><Relationship Id="rId3" Type="http://schemas.openxmlformats.org/officeDocument/2006/relationships/hyperlink" Target="https://www.vam.ac.uk/blog/designing-william-kent/back-drawing-board" TargetMode="External"/><Relationship Id="rId4" Type="http://schemas.openxmlformats.org/officeDocument/2006/relationships/hyperlink" Target="https://www.vam.ac.uk/blog/museum-life/young-vas-making-egypt-exhibition-materials-as-storytellers" TargetMode="External"/><Relationship Id="rId5" Type="http://schemas.openxmlformats.org/officeDocument/2006/relationships/hyperlink" Target="https://doi.org/10.1016/j.ijer.2020.101586" TargetMode="External"/><Relationship Id="rId6" Type="http://schemas.openxmlformats.org/officeDocument/2006/relationships/hyperlink" Target="https://teaching.vt.edu/teachingresources/project-based-learning/assessing-and-reflecting-on-project-work.html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vam.ac.uk/articles/design-and-disability-exhibition-guide" TargetMode="External"/><Relationship Id="rId2" Type="http://schemas.openxmlformats.org/officeDocument/2006/relationships/hyperlink" Target="https://www.vam.ac.uk/articles/the-great-exhibition-of-1851" TargetMode="External"/><Relationship Id="rId3" Type="http://schemas.openxmlformats.org/officeDocument/2006/relationships/hyperlink" Target="https://www.vam.ac.uk/blog/designing-william-kent/back-drawing-board" TargetMode="External"/><Relationship Id="rId4" Type="http://schemas.openxmlformats.org/officeDocument/2006/relationships/hyperlink" Target="https://www.vam.ac.uk/blog/museum-life/young-vas-making-egypt-secrets-of-the-exhibitions-design" TargetMode="External"/><Relationship Id="rId5" Type="http://schemas.openxmlformats.org/officeDocument/2006/relationships/hyperlink" Target="https://www.vam.ac.uk/articles/design-and-disability-exhibition-guide" TargetMode="External"/><Relationship Id="rId6" Type="http://schemas.openxmlformats.org/officeDocument/2006/relationships/hyperlink" Target="https://americanhistory.si.edu/visit/accessibility/tactile-elements-and-accessible-exhibition-features" TargetMode="External"/><Relationship Id="rId7" Type="http://schemas.openxmlformats.org/officeDocument/2006/relationships/hyperlink" Target="https://www.vam.ac.uk/blog/museum-life/young-vas-making-egypt-secrets-of-the-exhibitions-design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silantievmax/projects/personal/pptx/img/c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31520" y="1417320"/>
            <a:ext cx="822960" cy="64008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ИТОГОВОЕ МЕРОПРИЯТИЕ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дисциплине «Теория и методика обучения дизайну»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17373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ДИЗАЙН-ПРОЕКТ: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КОНЦЕПЦИЯ ВЫСТАВКИ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731520" y="4069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План-конспект занятия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[ФИО студента]   ·   [Группа]   ·   2026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589520" y="6355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1. Интерьер выставки Design and Disability, V&amp;A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ПУНКТ 1 ИЗ 6 · ПО ЗАДАНИЮ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Вводная часть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Дизайн-проект: концепция выставки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67665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занятия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«Концепция выставки как дизайн-проект»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Сформировать представление о принципах разработки концепции выставки и показать последовательность перехода от идеи к пространственному решению.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Раскрыть понятие «концепция выставки».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Определить основные составляющие выставочного проекта.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Познакомить с этапами разработки концепции.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Научить формулировать «большую идею» выставки.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Научить переводить идею в сценарий пространства.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Сформировать навыки аргументации проектного решения.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38160" y="1463040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1463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784080" y="2121408"/>
            <a:ext cx="0" cy="283464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138160" y="2423160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2423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СМЫСЛ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784080" y="3081528"/>
            <a:ext cx="0" cy="283464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383280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33832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ПРОСТРАНСТВО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784080" y="4041648"/>
            <a:ext cx="0" cy="283464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138160" y="4343400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4343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ПОСЕТИТЕЛЬ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38160" y="53035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Схема автора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5669280"/>
            <a:ext cx="3611880" cy="621792"/>
          </a:xfrm>
          <a:prstGeom prst="roundRect">
            <a:avLst>
              <a:gd name="adj" fmla="val 11765"/>
            </a:avLst>
          </a:prstGeom>
          <a:solidFill>
            <a:srgbClr val="DCEBEC"/>
          </a:solidFill>
          <a:ln w="12700">
            <a:solidFill>
              <a:srgbClr val="DCEB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566928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Форма: </a:t>
            </a:r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лекция + мини-практикум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97680" y="5669280"/>
            <a:ext cx="3611880" cy="621792"/>
          </a:xfrm>
          <a:prstGeom prst="roundRect">
            <a:avLst>
              <a:gd name="adj" fmla="val 11765"/>
            </a:avLst>
          </a:prstGeom>
          <a:solidFill>
            <a:srgbClr val="DCEBEC"/>
          </a:solidFill>
          <a:ln w="12700">
            <a:solidFill>
              <a:srgbClr val="DCEB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566928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Продолжительность: </a:t>
            </a:r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минут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46720" y="5669280"/>
            <a:ext cx="3611880" cy="621792"/>
          </a:xfrm>
          <a:prstGeom prst="roundRect">
            <a:avLst>
              <a:gd name="adj" fmla="val 11765"/>
            </a:avLst>
          </a:prstGeom>
          <a:solidFill>
            <a:srgbClr val="DCEBEC"/>
          </a:solidFill>
          <a:ln w="12700">
            <a:solidFill>
              <a:srgbClr val="DCEB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83880" y="566928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Итог: </a:t>
            </a:r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концептуальная карта собственной выставки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ВЫСТАВКА — ЭТО ДИЗАЙН-ПРОЕКТ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именно мы проектируем?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Дизайн-проект: концепция выставки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Выставка — это не простое размещение экспонатов в помещении. В проекте одновременно решаются: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274320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05740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содержание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0" y="2057400"/>
            <a:ext cx="274320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05740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смысловое сообщение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551176"/>
            <a:ext cx="274320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55117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образ выставки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29000" y="2551176"/>
            <a:ext cx="274320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255117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восприятия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044952"/>
            <a:ext cx="274320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04495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движение посетителя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29000" y="3044952"/>
            <a:ext cx="274320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304495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организация пространства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538728"/>
            <a:ext cx="274320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53872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экспозиционное оборудование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29000" y="3538728"/>
            <a:ext cx="274320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353872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графика и навигация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032504"/>
            <a:ext cx="274320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03250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свет и цвет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29000" y="4032504"/>
            <a:ext cx="274320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403250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интерактивные элементы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526280"/>
            <a:ext cx="274320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52628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доступность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680960" y="1371600"/>
            <a:ext cx="3108960" cy="548640"/>
          </a:xfrm>
          <a:prstGeom prst="roundRect">
            <a:avLst>
              <a:gd name="adj" fmla="val 13333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1371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КОНЦЕПЦИЯ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92240" y="2651760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26517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СОДЕРЖАНИЕ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 flipH="1">
            <a:off x="7383780" y="1938528"/>
            <a:ext cx="1851660" cy="694944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383780" y="3218688"/>
            <a:ext cx="1851660" cy="603504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412480" y="2651760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0" y="26517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ПОСЕТИТЕЛЬ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235440" y="1938528"/>
            <a:ext cx="68580" cy="694944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H="1">
            <a:off x="9235440" y="3218688"/>
            <a:ext cx="68580" cy="603504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0332720" y="2651760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32720" y="26517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ПРОСТРАНСТВО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235440" y="1938528"/>
            <a:ext cx="1988820" cy="694944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H="1">
            <a:off x="9235440" y="3218688"/>
            <a:ext cx="1988820" cy="603504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680960" y="3840480"/>
            <a:ext cx="3108960" cy="548640"/>
          </a:xfrm>
          <a:prstGeom prst="roundRect">
            <a:avLst>
              <a:gd name="adj" fmla="val 13333"/>
            </a:avLst>
          </a:prstGeom>
          <a:solidFill>
            <a:srgbClr val="14292E"/>
          </a:solidFill>
          <a:ln w="12700">
            <a:solidFill>
              <a:srgbClr val="14292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80960" y="3840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ЦЕЛОСТНЫЙ ОПЫТ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4292E"/>
          </a:solidFill>
          <a:ln w="12700">
            <a:solidFill>
              <a:srgbClr val="14292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7240" y="50749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отвечает на вопрос «что показать», концепция — «зачем и как это показать».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Обоснование: предметы сами по себе не образуют понятный рассказ — смысл им придаёт общая идея («big idea»), задающая начало, середину и конец опыта посетителя (American Alliance of Museums, 2013).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ПУНКТ 2 ИЗ 6 · ПО ЗАДАНИЮ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Содержание лекции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Дизайн-проект: концепция выставки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10515600" cy="0"/>
          </a:xfrm>
          <a:prstGeom prst="line">
            <a:avLst/>
          </a:prstGeom>
          <a:noFill/>
          <a:ln w="25400">
            <a:solidFill>
              <a:srgbClr val="E4572E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2103120" cy="30175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011680"/>
            <a:ext cx="640080" cy="6400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834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Большая идея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33375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должна понять аудитория после посещения?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88920" y="1554480"/>
            <a:ext cx="2103120" cy="30175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0" y="2011680"/>
            <a:ext cx="640080" cy="6400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26080" y="2834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Аудитория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926080" y="33375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кого создаётся выставка?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0" y="1554480"/>
            <a:ext cx="2103120" cy="30175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66360" y="2011680"/>
            <a:ext cx="640080" cy="6400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66360" y="2834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66360" y="33375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какой последовательности посетитель получает информацию?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269480" y="1554480"/>
            <a:ext cx="2103120" cy="30175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06640" y="2011680"/>
            <a:ext cx="640080" cy="6400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06640" y="2834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Пространство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06640" y="33375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идея переводится в маршрут, зоны и экспозицию?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509760" y="1554480"/>
            <a:ext cx="2103120" cy="30175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46920" y="2011680"/>
            <a:ext cx="640080" cy="6400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4692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646920" y="2834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Визуальный язык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646920" y="33375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цвет, свет, графика, материалы и оборудование поддерживают идею?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4846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 → Аудитория → Сценарий → Пространство → Образ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539496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4292E"/>
          </a:solidFill>
          <a:ln w="12700">
            <a:solidFill>
              <a:srgbClr val="1429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53949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принцип:  сначала смысл → затем форма.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КЛЮЧЕВОЙ СЛАЙД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Большая идея: смысловой центр выставки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Дизайн-проект: концепция выставки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Большая идея — краткая формулировка того, что выставка хочет сообщить посетителю и почему это сообщение важно.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6309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Она отвечает на вопросы</a:t>
            </a:r>
            <a:endParaRPr lang="en-US" sz="140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чём выставка?</a:t>
            </a:r>
            <a:endParaRPr lang="en-US" sz="140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именно мы хотим сказать?</a:t>
            </a:r>
            <a:endParaRPr lang="en-US" sz="140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кого это важно?</a:t>
            </a:r>
            <a:endParaRPr lang="en-US" sz="140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Какое впечатление должен получить посетитель?</a:t>
            </a:r>
            <a:endParaRPr lang="en-US" sz="140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он должен понять или почувствовать?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6309360" cy="1051560"/>
          </a:xfrm>
          <a:prstGeom prst="roundRect">
            <a:avLst>
              <a:gd name="adj" fmla="val 6957"/>
            </a:avLst>
          </a:prstGeom>
          <a:solidFill>
            <a:srgbClr val="DCEBEC"/>
          </a:solidFill>
          <a:ln w="12700">
            <a:solidFill>
              <a:srgbClr val="DCEB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1148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исследую ______  чтобы показать ______  и помочь посетителю понять ______.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21208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Слабая идея: </a:t>
            </a:r>
            <a:pPr indent="0" marL="0">
              <a:buNone/>
            </a:pPr>
            <a:r>
              <a:rPr lang="en-US" sz="13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«Выставка о современном дизайне».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Сильнее: </a:t>
            </a:r>
            <a:pPr indent="0" marL="0">
              <a:buNone/>
            </a:pPr>
            <a:r>
              <a:rPr lang="en-US" sz="13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«Как современные дизайнеры превращают повседневные проблемы в новые возможности».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06640" y="1371600"/>
            <a:ext cx="4297680" cy="640080"/>
          </a:xfrm>
          <a:prstGeom prst="roundRect">
            <a:avLst>
              <a:gd name="adj" fmla="val 11429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13716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≠ КОНЦЕПЦИЯ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406640" y="2194560"/>
            <a:ext cx="4297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43800" y="21945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ТЕМА: </a:t>
            </a:r>
            <a:pPr indent="0" marL="0">
              <a:buNone/>
            </a:pPr>
            <a:r>
              <a:rPr lang="en-US" sz="13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современный дизайн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555480" y="2852928"/>
            <a:ext cx="0" cy="192024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06640" y="3063240"/>
            <a:ext cx="4297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43800" y="30632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ВОПРОС: </a:t>
            </a:r>
            <a:pPr indent="0" marL="0">
              <a:buNone/>
            </a:pPr>
            <a:r>
              <a:rPr lang="en-US" sz="13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дизайн меняет повседневность?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555480" y="3721608"/>
            <a:ext cx="0" cy="192024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06640" y="3931920"/>
            <a:ext cx="4297680" cy="640080"/>
          </a:xfrm>
          <a:prstGeom prst="roundRect">
            <a:avLst>
              <a:gd name="adj" fmla="val 11429"/>
            </a:avLst>
          </a:prstGeom>
          <a:solidFill>
            <a:srgbClr val="14292E"/>
          </a:solidFill>
          <a:ln w="12700">
            <a:solidFill>
              <a:srgbClr val="1429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39319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БОЛЬШАЯ ИДЕЯ: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 начинается с проблемы человека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406640" y="4892040"/>
            <a:ext cx="2103120" cy="1097280"/>
          </a:xfrm>
          <a:prstGeom prst="rect">
            <a:avLst/>
          </a:prstGeom>
          <a:solidFill>
            <a:srgbClr val="EEEAE2"/>
          </a:solidFill>
          <a:ln w="12700">
            <a:solidFill>
              <a:srgbClr val="6B6B73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7498080" y="489204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 для иллюстрации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2 — эскиз Хрустального дворца, Дж. Пакстон, 1850 (V&amp;A)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46920" y="48920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 → объект: так замысел превращается в выставочное здание.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AAM рекомендует начинать разработку выставки с формулирования «big idea»: на ней строится отбор объектов и организация выставки (American Alliance of Museums, 2013).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АУДИТОРИЯ И СЦЕНАРИЙ ПОСЕТИТЕЛЯ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объекта к посетителю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Дизайн-проект: концепция выставки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481328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посетитель?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2971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разработке концепции определяем: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возраст;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уровень подготовки;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интересы;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мотивацию посещения;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ожидаемый уровень информации;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особенности восприятия.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06240" y="1371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делает посетитель?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06240" y="1783080"/>
            <a:ext cx="31089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7830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2194560"/>
            <a:ext cx="0" cy="109728"/>
          </a:xfrm>
          <a:prstGeom prst="line">
            <a:avLst/>
          </a:prstGeom>
          <a:noFill/>
          <a:ln w="25400">
            <a:solidFill>
              <a:srgbClr val="6B6B7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06240" y="2313432"/>
            <a:ext cx="31089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231343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ОРИЕНТАЦИЯ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0" y="2724912"/>
            <a:ext cx="0" cy="109728"/>
          </a:xfrm>
          <a:prstGeom prst="line">
            <a:avLst/>
          </a:prstGeom>
          <a:noFill/>
          <a:ln w="25400">
            <a:solidFill>
              <a:srgbClr val="6B6B7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206240" y="2843784"/>
            <a:ext cx="31089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284378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ЗНАКОМСТВО С ИДЕЕЙ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60720" y="3255264"/>
            <a:ext cx="0" cy="109728"/>
          </a:xfrm>
          <a:prstGeom prst="line">
            <a:avLst/>
          </a:prstGeom>
          <a:noFill/>
          <a:ln w="25400">
            <a:solidFill>
              <a:srgbClr val="6B6B7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206240" y="3374136"/>
            <a:ext cx="31089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337413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ИССЛЕДОВАНИЕ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60720" y="3785616"/>
            <a:ext cx="0" cy="109728"/>
          </a:xfrm>
          <a:prstGeom prst="line">
            <a:avLst/>
          </a:prstGeom>
          <a:noFill/>
          <a:ln w="25400">
            <a:solidFill>
              <a:srgbClr val="6B6B7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206240" y="3904488"/>
            <a:ext cx="3108960" cy="402336"/>
          </a:xfrm>
          <a:prstGeom prst="roundRect">
            <a:avLst>
              <a:gd name="adj" fmla="val 18182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390448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КЛЮЧЕВОЙ ЭПИЗОД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760720" y="4315968"/>
            <a:ext cx="0" cy="109728"/>
          </a:xfrm>
          <a:prstGeom prst="line">
            <a:avLst/>
          </a:prstGeom>
          <a:noFill/>
          <a:ln w="25400">
            <a:solidFill>
              <a:srgbClr val="6B6B7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206240" y="4434840"/>
            <a:ext cx="31089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0" y="44348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 / РЕФЛЕКСИЯ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 в плане (схема автора)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772400" y="1828800"/>
            <a:ext cx="393192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1B1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8366760" y="2834640"/>
            <a:ext cx="457200" cy="1371600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098280" y="2788920"/>
            <a:ext cx="731520" cy="1280160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10104120" y="2651760"/>
            <a:ext cx="548640" cy="1371600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927080" y="2606040"/>
            <a:ext cx="274320" cy="1554480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092440" y="4160520"/>
            <a:ext cx="365760" cy="3657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9244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823960" y="2514600"/>
            <a:ext cx="365760" cy="3657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23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829800" y="3977640"/>
            <a:ext cx="365760" cy="3657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2980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0652760" y="2331720"/>
            <a:ext cx="365760" cy="3657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65276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1201400" y="4069080"/>
            <a:ext cx="365760" cy="3657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20140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772400" y="49377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Вход  →  2 Знакомство  →  3 Исследование  →  4 Кульминация  →  5 Выход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8640" y="5349240"/>
            <a:ext cx="11155680" cy="640080"/>
          </a:xfrm>
          <a:prstGeom prst="roundRect">
            <a:avLst>
              <a:gd name="adj" fmla="val 11429"/>
            </a:avLst>
          </a:prstGeom>
          <a:solidFill>
            <a:srgbClr val="14292E"/>
          </a:solidFill>
          <a:ln w="12700">
            <a:solidFill>
              <a:srgbClr val="14292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7240" y="5349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 выставки — это часть повествования.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AAM: следует учитывать реальное поведение посетителей и не рассчитывать только на идеальный линейный маршрут (American Alliance of Museums, 2017).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ПУНКТ 3 ИЗ 6 · ПО ЗАДАНИЮ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Структура занятия — 90 минут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Дизайн-проект: концепция выставки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651504" cy="457200"/>
          </a:xfrm>
          <a:prstGeom prst="rect">
            <a:avLst/>
          </a:prstGeom>
          <a:solidFill>
            <a:srgbClr val="2A6F77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63040"/>
            <a:ext cx="3651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ПОНЯТЬ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36720" y="1463040"/>
            <a:ext cx="3651504" cy="457200"/>
          </a:xfrm>
          <a:prstGeom prst="rect">
            <a:avLst/>
          </a:prstGeom>
          <a:solidFill>
            <a:srgbClr val="3E8E7E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36720" y="1463040"/>
            <a:ext cx="3651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ПРОАНАЛИЗИРОВАТЬ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924800" y="1463040"/>
            <a:ext cx="2422144" cy="4572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24800" y="1463040"/>
            <a:ext cx="242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СОЗДАТЬ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383520" y="1463040"/>
            <a:ext cx="1192784" cy="457200"/>
          </a:xfrm>
          <a:prstGeom prst="rect">
            <a:avLst/>
          </a:prstGeom>
          <a:solidFill>
            <a:srgbClr val="14292E"/>
          </a:solidFill>
          <a:ln w="12700">
            <a:solidFill>
              <a:srgbClr val="1429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83520" y="1463040"/>
            <a:ext cx="1192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ОБОСНОВАТЬ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1965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0'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49400" y="1965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10'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08120" y="1965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30'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52160" y="1965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45'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96200" y="1965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60'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154920" y="1965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80'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84280" y="1965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90'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2377440"/>
            <a:ext cx="1764792" cy="3200400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2377440"/>
            <a:ext cx="1764792" cy="82296"/>
          </a:xfrm>
          <a:prstGeom prst="rect">
            <a:avLst/>
          </a:prstGeom>
          <a:solidFill>
            <a:srgbClr val="2A6F77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56032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0–10 мин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" y="2880360"/>
            <a:ext cx="1545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Вводная часть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" y="3657600"/>
            <a:ext cx="15453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Проблемный вопрос: «Можно ли назвать выставкой помещение, в котором просто расставлены экспонаты?» Краткое обсуждение.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2404872" y="2377440"/>
            <a:ext cx="1764792" cy="3200400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04872" y="2377440"/>
            <a:ext cx="1764792" cy="82296"/>
          </a:xfrm>
          <a:prstGeom prst="rect">
            <a:avLst/>
          </a:prstGeom>
          <a:solidFill>
            <a:srgbClr val="2A6F77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14600" y="256032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10–30 мин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514600" y="2880360"/>
            <a:ext cx="1545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Мини-лекция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514600" y="3657600"/>
            <a:ext cx="15453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Понятие концепции. Большая идея. Аудитория. Сценарий.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261104" y="2377440"/>
            <a:ext cx="1764792" cy="3200400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61104" y="2377440"/>
            <a:ext cx="1764792" cy="82296"/>
          </a:xfrm>
          <a:prstGeom prst="rect">
            <a:avLst/>
          </a:prstGeom>
          <a:solidFill>
            <a:srgbClr val="3E8E7E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256032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E8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30–45 мин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370832" y="2880360"/>
            <a:ext cx="1545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Разбор примера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370832" y="3657600"/>
            <a:ext cx="15453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реальной выставки.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117336" y="2377440"/>
            <a:ext cx="1764792" cy="3200400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17336" y="2377440"/>
            <a:ext cx="1764792" cy="82296"/>
          </a:xfrm>
          <a:prstGeom prst="rect">
            <a:avLst/>
          </a:prstGeom>
          <a:solidFill>
            <a:srgbClr val="3E8E7E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27064" y="256032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E8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45–60 мин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27064" y="2880360"/>
            <a:ext cx="1545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Объяснение технологии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227064" y="3657600"/>
            <a:ext cx="15453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идеи к пространству.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7973568" y="2377440"/>
            <a:ext cx="1764792" cy="3200400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973568" y="2377440"/>
            <a:ext cx="1764792" cy="82296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83296" y="256032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60–80 мин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083296" y="2880360"/>
            <a:ext cx="1545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Практическое задание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083296" y="3657600"/>
            <a:ext cx="15453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собственной мини-концепции.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9829800" y="2377440"/>
            <a:ext cx="1764792" cy="3200400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829800" y="2377440"/>
            <a:ext cx="1764792" cy="82296"/>
          </a:xfrm>
          <a:prstGeom prst="rect">
            <a:avLst/>
          </a:prstGeom>
          <a:solidFill>
            <a:srgbClr val="14292E"/>
          </a:solidFill>
          <a:ln w="12700">
            <a:solidFill>
              <a:srgbClr val="14292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939528" y="256032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80–90 мин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939528" y="2880360"/>
            <a:ext cx="1545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Презентация + обратная связь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939528" y="3657600"/>
            <a:ext cx="15453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студент представляет решение.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ПОНЯТЬ  →  ПРОАНАЛИЗИРОВАТЬ  →  СОЗДАТЬ  →  ОБОСНОВАТЬ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ТЕХНОЛОГИЯ РАБОТЫ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Технология создания концепции выставки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Дизайн-проект: концепция выставки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481328" cy="283464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1481328" cy="914400"/>
          </a:xfrm>
          <a:prstGeom prst="rect">
            <a:avLst/>
          </a:prstGeom>
          <a:solidFill>
            <a:srgbClr val="2A6F77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00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БРИФ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2606040"/>
            <a:ext cx="12984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Тема, проблема, ограничения.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148840" y="1554480"/>
            <a:ext cx="1481328" cy="283464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48840" y="1554480"/>
            <a:ext cx="1481328" cy="914400"/>
          </a:xfrm>
          <a:prstGeom prst="rect">
            <a:avLst/>
          </a:prstGeom>
          <a:solidFill>
            <a:srgbClr val="2A6F77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40280" y="1600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240280" y="19659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ИССЛЕДОВАНИЕ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240280" y="2606040"/>
            <a:ext cx="12984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Материалы, объекты, контекст.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749040" y="1554480"/>
            <a:ext cx="1481328" cy="283464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040" y="1554480"/>
            <a:ext cx="1481328" cy="914400"/>
          </a:xfrm>
          <a:prstGeom prst="rect">
            <a:avLst/>
          </a:prstGeom>
          <a:solidFill>
            <a:srgbClr val="2A6F77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1600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840480" y="19659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АУДИТОРИЯ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40480" y="2606040"/>
            <a:ext cx="12984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кого создаётся выставка?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349240" y="1554480"/>
            <a:ext cx="1481328" cy="283464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49240" y="1554480"/>
            <a:ext cx="1481328" cy="9144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1600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40680" y="19659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IDEA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40680" y="2606040"/>
            <a:ext cx="12984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 сообщение.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949440" y="1554480"/>
            <a:ext cx="1481328" cy="283464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49440" y="1554480"/>
            <a:ext cx="1481328" cy="914400"/>
          </a:xfrm>
          <a:prstGeom prst="rect">
            <a:avLst/>
          </a:prstGeom>
          <a:solidFill>
            <a:srgbClr val="2A6F77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1600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040880" y="19659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040880" y="2606040"/>
            <a:ext cx="12984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Последовательность восприятия.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549640" y="1554480"/>
            <a:ext cx="1481328" cy="283464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49640" y="1554480"/>
            <a:ext cx="1481328" cy="914400"/>
          </a:xfrm>
          <a:prstGeom prst="rect">
            <a:avLst/>
          </a:prstGeom>
          <a:solidFill>
            <a:srgbClr val="2A6F77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41080" y="1600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641080" y="19659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ПРОСТРАНСТВО И ОБРАЗ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641080" y="2606040"/>
            <a:ext cx="12984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Планировка, свет, цвет, материалы, графика.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0149840" y="1554480"/>
            <a:ext cx="1481328" cy="283464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149840" y="1554480"/>
            <a:ext cx="1481328" cy="914400"/>
          </a:xfrm>
          <a:prstGeom prst="rect">
            <a:avLst/>
          </a:prstGeom>
          <a:solidFill>
            <a:srgbClr val="2A6F77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241280" y="1600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0241280" y="19659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ПРОТОТИП И КОРРЕКЦИЯ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241280" y="2606040"/>
            <a:ext cx="12984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решения и доработка.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280160" y="4526280"/>
            <a:ext cx="9966960" cy="0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headEnd type="triangle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548640" y="4617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развивается итеративно: от эскиза — к уточнению вместе с кураторами и техническими специалистами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48640" y="525780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4292E"/>
          </a:solidFill>
          <a:ln w="12700">
            <a:solidFill>
              <a:srgbClr val="14292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" y="52578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практике выставочный проект — это не прямая линия, а цикл «проверили — исправили».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V&amp;A показывает, как первоначальные эскизы планировки уточняются совместно с дизайнерами, кураторами, техническими специалистами и консерваторами (V&amp;A Blog, 2013).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ПРАКТИЧЕСКАЯ ЧАСТЬ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Практикум: разработать концепцию выставки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Дизайн-проект: концепция выставки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Представьте, что нужно создать небольшую тематическую выставку. За 20 минут разработайте: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75688"/>
            <a:ext cx="384048" cy="3840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202996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Название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короткое и запоминающееся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642616"/>
            <a:ext cx="384048" cy="3840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59689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Большую идею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предложения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209544"/>
            <a:ext cx="384048" cy="3840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16382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Аудиторию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посетитель?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776472"/>
            <a:ext cx="384048" cy="3840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73075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тематические зоны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например: Введение → Исследование → Финал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384048" cy="3840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42976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движения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посетитель проходит выставку?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910328"/>
            <a:ext cx="384048" cy="3840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910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486460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Визуальный образ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основных цвета, материал, характер освещения, графический приём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5477256"/>
            <a:ext cx="384048" cy="3840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477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543153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интерактивный элемент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посетитель делает, а не только смотрит?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498080" y="1371600"/>
            <a:ext cx="4206240" cy="46634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Концепт-лист (пример заполнения)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680960" y="1874520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F7F5F0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18120" y="1911096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НАЗВАНИЕ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«Начни с проблемы»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601200" y="2542032"/>
            <a:ext cx="0" cy="146304"/>
          </a:xfrm>
          <a:prstGeom prst="line">
            <a:avLst/>
          </a:prstGeom>
          <a:noFill/>
          <a:ln w="25400">
            <a:solidFill>
              <a:srgbClr val="6B6B73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680960" y="2697480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FBE3DA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18120" y="2734056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IDEA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 начинается с проблемы человека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601200" y="3364992"/>
            <a:ext cx="0" cy="146304"/>
          </a:xfrm>
          <a:prstGeom prst="line">
            <a:avLst/>
          </a:prstGeom>
          <a:noFill/>
          <a:ln w="25400">
            <a:solidFill>
              <a:srgbClr val="6B6B73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680960" y="3520440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F7F5F0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18120" y="3557016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АУДИТОРИЯ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студенты 1 курса, не знакомые с проектированием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601200" y="4187952"/>
            <a:ext cx="0" cy="146304"/>
          </a:xfrm>
          <a:prstGeom prst="line">
            <a:avLst/>
          </a:prstGeom>
          <a:noFill/>
          <a:ln w="25400">
            <a:solidFill>
              <a:srgbClr val="6B6B73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680960" y="4343400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F7F5F0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18120" y="4379976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ЗОНЫ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Введение → 2 Исследование → 3 Финал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9601200" y="5010912"/>
            <a:ext cx="0" cy="146304"/>
          </a:xfrm>
          <a:prstGeom prst="line">
            <a:avLst/>
          </a:prstGeom>
          <a:noFill/>
          <a:ln w="25400">
            <a:solidFill>
              <a:srgbClr val="6B6B73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680960" y="5166360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F7F5F0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18120" y="5202936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ВИЗУАЛЬНЫЙ ОБРАЗ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синий + оранжевый, картон, тёплый акцентный свет, крупная типографика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ПУНКТ 4 ИЗ 6 · ПО ЗАДАНИЮ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Методика проведения занятия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Дизайн-проект: концепция выставки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просто «лекция»: показываем, как именно преподаватель работает со студентами.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011680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6517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Проблемное обучение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32004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Начать с вопроса: «Что превращает набор экспонатов в выставку?»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97680" y="182880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2011680"/>
            <a:ext cx="502920" cy="502920"/>
          </a:xfrm>
          <a:prstGeom prst="ellipse">
            <a:avLst/>
          </a:prstGeom>
          <a:solidFill>
            <a:srgbClr val="2A6F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6636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0" y="26517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Объяснительно-иллюстративный метод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80560" y="32004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 реальных выставочных решений.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46720" y="182880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2011680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91540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0" y="26517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кейса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29600" y="32004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Студенты разбирают существующую выставку.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402336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4206240"/>
            <a:ext cx="502920" cy="502920"/>
          </a:xfrm>
          <a:prstGeom prst="ellipse">
            <a:avLst/>
          </a:prstGeom>
          <a:solidFill>
            <a:srgbClr val="2A6F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17320" y="4251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" y="48463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Проектный метод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31520" y="53949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собственной концепции.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297680" y="402336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80560" y="4206240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056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166360" y="4251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СХЕМА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480560" y="48463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 визуального моделирования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480560" y="53949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Схема маршрута, план, мудборд.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046720" y="402336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0" y="4206240"/>
            <a:ext cx="502920" cy="502920"/>
          </a:xfrm>
          <a:prstGeom prst="ellipse">
            <a:avLst/>
          </a:prstGeom>
          <a:solidFill>
            <a:srgbClr val="2A6F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915400" y="4251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ОБСУЖДЕНИЕ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229600" y="48463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Обсуждение / критика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229600" y="53949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решения и получение обратной связи.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Kent — Designing Georgian Britain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Дизайн-проект: концепция выставки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5669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Выставка V&amp;A построена вокруг идеи путешествия по страницам альбома/скетчбука Уильяма Кента.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Дизайнеры Hara Clark создали маршрут из полупрозрачных тканевых слоёв с изображениями эскизов Кента.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Посетитель двигался между слоями и постепенно открывал новые виды экспозиции.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DCEBEC"/>
          </a:solidFill>
          <a:ln w="12700">
            <a:solidFill>
              <a:srgbClr val="DCEB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1148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 «скетчбука»  →  пространственный маршрут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5212080"/>
            <a:ext cx="5669280" cy="868680"/>
          </a:xfrm>
          <a:prstGeom prst="roundRect">
            <a:avLst>
              <a:gd name="adj" fmla="val 8421"/>
            </a:avLst>
          </a:prstGeom>
          <a:solidFill>
            <a:srgbClr val="14292E"/>
          </a:solidFill>
          <a:ln w="12700">
            <a:solidFill>
              <a:srgbClr val="1429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521208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Концепция должна проявляться в самом способе движения и восприятия выставки.</a:t>
            </a:r>
            <a:endParaRPr lang="en-US" sz="1600" dirty="0"/>
          </a:p>
        </p:txBody>
      </p:sp>
      <p:pic>
        <p:nvPicPr>
          <p:cNvPr id="12" name="Image 0" descr="/home/silantievmax/projects/personal/pptx/img/c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0" y="1371600"/>
            <a:ext cx="5120640" cy="350215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583680" y="49377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3. Эскизы первоначальной планировки выставки William Kent: Designing Georgian Britain, Hara Clark, 2014. V&amp;A Blog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583680" y="5440680"/>
            <a:ext cx="5120640" cy="640080"/>
          </a:xfrm>
          <a:prstGeom prst="rect">
            <a:avLst/>
          </a:prstGeom>
          <a:solidFill>
            <a:srgbClr val="EEEAE2"/>
          </a:solidFill>
          <a:ln w="12700">
            <a:solidFill>
              <a:srgbClr val="6B6B73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6675120" y="54406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 для иллюстрации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4 — фото экспозиции, Hara Clark / Nick Wood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проект Hara Clark; V&amp;A Blog, «Back to the Drawing Board».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Egypt, Young V&amp;A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Дизайн-проект: концепция выставки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Выставка о Древнем Египте и его влиянии на современную культуру. Дизайн здесь — не нейтральный фон.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5486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 оформлен с использованием ивы — ассоциация с берегами Нила;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материалы отсылают к древнеегипетской среде;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планировка одной из зон основана на археологическом чертеже древнеегипетской печи;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цвет, свет, материалы и графика — часть повествования;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предусмотрены практические активности для посетителей.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371600"/>
            <a:ext cx="2606040" cy="3291840"/>
          </a:xfrm>
          <a:prstGeom prst="rect">
            <a:avLst/>
          </a:prstGeom>
          <a:solidFill>
            <a:srgbClr val="EEEAE2"/>
          </a:solidFill>
          <a:ln w="12700">
            <a:solidFill>
              <a:srgbClr val="6B6B73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492240" y="1371600"/>
            <a:ext cx="2423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 для иллюстрации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5 — общий вид выставки Making Egypt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098280" y="1371600"/>
            <a:ext cx="2606040" cy="3291840"/>
          </a:xfrm>
          <a:prstGeom prst="rect">
            <a:avLst/>
          </a:prstGeom>
          <a:solidFill>
            <a:srgbClr val="EEEAE2"/>
          </a:solidFill>
          <a:ln w="12700">
            <a:solidFill>
              <a:srgbClr val="6B6B73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9189720" y="1371600"/>
            <a:ext cx="2423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 для иллюстрации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8 — деталь материалов и оборудования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47091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5. Интерьер выставки Making Egypt, Young V&amp;A, 2025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098280" y="47091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8. Материалы и экспозиционное оборудование, Making Egypt, Young V&amp;A, 2025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534924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14292E"/>
          </a:solidFill>
          <a:ln w="12700">
            <a:solidFill>
              <a:srgbClr val="1429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5349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Содержание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035808" y="5623560"/>
            <a:ext cx="310896" cy="0"/>
          </a:xfrm>
          <a:prstGeom prst="line">
            <a:avLst/>
          </a:prstGeom>
          <a:noFill/>
          <a:ln w="25400">
            <a:solidFill>
              <a:srgbClr val="6B6B7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364992" y="534924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14292E"/>
          </a:solidFill>
          <a:ln w="12700">
            <a:solidFill>
              <a:srgbClr val="1429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64992" y="5349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Материал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852160" y="5623560"/>
            <a:ext cx="310896" cy="0"/>
          </a:xfrm>
          <a:prstGeom prst="line">
            <a:avLst/>
          </a:prstGeom>
          <a:noFill/>
          <a:ln w="25400">
            <a:solidFill>
              <a:srgbClr val="6B6B7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181344" y="534924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14292E"/>
          </a:solidFill>
          <a:ln w="12700">
            <a:solidFill>
              <a:srgbClr val="1429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81344" y="5349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Пространство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668512" y="5623560"/>
            <a:ext cx="310896" cy="0"/>
          </a:xfrm>
          <a:prstGeom prst="line">
            <a:avLst/>
          </a:prstGeom>
          <a:noFill/>
          <a:ln w="25400">
            <a:solidFill>
              <a:srgbClr val="6B6B7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997696" y="534924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97696" y="5349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Опыт посетителя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V&amp;A: дизайн выставки создавался в соответствии с кураторским нарративом; материал, цвет и свет формируют характер пространства (V&amp;A Blog, 2025).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ПУНКТ 5 ИЗ 6 · ПО ЗАДАНИЮ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Оценочные средства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Дизайн-проект: концепция выставки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Критериальная рубрика на 20 баллов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66928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Критерий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F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Баллы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F7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Чёткость идеи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Соответствие идеи аудитории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Логика сценария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Связь пространства и концепции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Визуальная целостность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Аргументация решения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Итого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675120" y="1280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Уровни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675120" y="1691640"/>
            <a:ext cx="1188720" cy="777240"/>
          </a:xfrm>
          <a:prstGeom prst="rect">
            <a:avLst/>
          </a:prstGeom>
          <a:solidFill>
            <a:srgbClr val="2A6F77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75120" y="16916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18–20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863840" y="1691640"/>
            <a:ext cx="3840480" cy="777240"/>
          </a:xfrm>
          <a:prstGeom prst="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01000" y="16916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концепция целостная, аргументированная, все элементы связаны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675120" y="2560320"/>
            <a:ext cx="1188720" cy="777240"/>
          </a:xfrm>
          <a:prstGeom prst="rect">
            <a:avLst/>
          </a:prstGeom>
          <a:solidFill>
            <a:srgbClr val="3E8E7E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75120" y="256032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14–17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863840" y="2560320"/>
            <a:ext cx="3840480" cy="777240"/>
          </a:xfrm>
          <a:prstGeom prst="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01000" y="256032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концепция сформирована, отдельные элементы требуют доработки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675120" y="3429000"/>
            <a:ext cx="1188720" cy="77724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75120" y="34290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10–13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863840" y="3429000"/>
            <a:ext cx="3840480" cy="777240"/>
          </a:xfrm>
          <a:prstGeom prst="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01000" y="342900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 понятна частично, связь элементов недостаточна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675120" y="4297680"/>
            <a:ext cx="1188720" cy="777240"/>
          </a:xfrm>
          <a:prstGeom prst="rect">
            <a:avLst/>
          </a:prstGeom>
          <a:solidFill>
            <a:srgbClr val="14292E"/>
          </a:solidFill>
          <a:ln w="12700">
            <a:solidFill>
              <a:srgbClr val="14292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75120" y="42976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0–9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863840" y="4297680"/>
            <a:ext cx="3840480" cy="777240"/>
          </a:xfrm>
          <a:prstGeom prst="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001000" y="429768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отсутствует целостная концепция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48640" y="5486400"/>
            <a:ext cx="11155680" cy="731520"/>
          </a:xfrm>
          <a:prstGeom prst="roundRect">
            <a:avLst>
              <a:gd name="adj" fmla="val 10000"/>
            </a:avLst>
          </a:prstGeom>
          <a:solidFill>
            <a:srgbClr val="14292E"/>
          </a:solidFill>
          <a:ln w="12700">
            <a:solidFill>
              <a:srgbClr val="14292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77240" y="54864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Оцениваем не только красивый результат, но и процесс проектирования: аргументацию, принятие решений, работу с обратной связью.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48640" y="62910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проектном обучении целесообразно оценивать итоговый продукт и процесс: анализ, планирование, проектирование, коммуникацию, рефлексию (Guo et al., 2020).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ПУНКТ 6 ИЗ 6 · ПО ЗАДАНИЮ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Элементы педагогической техники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Дизайн-проект: концепция выставки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08760"/>
            <a:ext cx="73152" cy="141732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4813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Речь преподавателя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19202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короткие инструкции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чёткая постановка задачи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 вместо готовых ответов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терминология с объяснением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137160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508760"/>
            <a:ext cx="73152" cy="141732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4813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Визуальная демонстрация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19202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реальные выставки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схемы и планы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фотографии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эскизы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337560"/>
            <a:ext cx="73152" cy="141732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3101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Организация работы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37490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индивидуальная работа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в парах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краткая презентация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взаимная критика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320040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3337560"/>
            <a:ext cx="73152" cy="141732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3101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Обратная связь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46520" y="37490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«Что работает?»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«Что не работает?»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«Что можно изменить?»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1206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4292E"/>
          </a:solidFill>
          <a:ln w="12700">
            <a:solidFill>
              <a:srgbClr val="1429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1206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Преподаватель не проектирует выставку за студента — он создаёт условия, в которых студент сам принимает проектное решение.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практике проектного обучения студентам дают понятные критерии, промежуточные этапы и несколько циклов обратной связи (Virginia Tech, CETL).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ДОСТУПНОСТЬ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Концепция должна учитывать всех посетителей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Дизайн-проект: концепция выставки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Доступность — не дополнительная опция, а часть проектирования опыта.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1828800"/>
            <a:ext cx="2194560" cy="2194560"/>
          </a:xfrm>
          <a:prstGeom prst="ellipse">
            <a:avLst/>
          </a:prstGeom>
          <a:solidFill>
            <a:srgbClr val="2A6F77">
              <a:alpha val="55000"/>
            </a:srgbClr>
          </a:solidFill>
          <a:ln w="19050">
            <a:solidFill>
              <a:srgbClr val="2A6F7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0" y="1828800"/>
            <a:ext cx="2194560" cy="2194560"/>
          </a:xfrm>
          <a:prstGeom prst="ellipse">
            <a:avLst/>
          </a:prstGeom>
          <a:solidFill>
            <a:srgbClr val="E4572E">
              <a:alpha val="55000"/>
            </a:srgbClr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20240" y="3246120"/>
            <a:ext cx="2194560" cy="2194560"/>
          </a:xfrm>
          <a:prstGeom prst="ellipse">
            <a:avLst/>
          </a:prstGeom>
          <a:solidFill>
            <a:srgbClr val="14292E">
              <a:alpha val="55000"/>
            </a:srgbClr>
          </a:solidFill>
          <a:ln w="19050">
            <a:solidFill>
              <a:srgbClr val="1429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ПРОСТРАНСТВО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4612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ИНФОРМАЦИЯ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48840" y="4572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ВОСПРИЯТИЕ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0" y="3246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ДОСТУПНЫЙ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ОПЫТ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0" y="1783080"/>
            <a:ext cx="6217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18745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Физическая доступность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0" y="22402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 · ширина проходов · высота элементов · места отдыха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0" y="2971800"/>
            <a:ext cx="6217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30632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Информационная доступность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0" y="34290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размер текста · контраст · субтитры · альтернативные форматы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0" y="4160520"/>
            <a:ext cx="6217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42519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Сенсорная доступность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69280" y="46177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звук · свет · тактильные элементы · выбор уровня сенсорной нагрузки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0" y="5440680"/>
            <a:ext cx="1920240" cy="777240"/>
          </a:xfrm>
          <a:prstGeom prst="rect">
            <a:avLst/>
          </a:prstGeom>
          <a:solidFill>
            <a:srgbClr val="EEEAE2"/>
          </a:solidFill>
          <a:ln w="12700">
            <a:solidFill>
              <a:srgbClr val="6B6B73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577840" y="54406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 для иллюстрации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6 — Design and Disability, раздел Tools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43800" y="5440680"/>
            <a:ext cx="1920240" cy="777240"/>
          </a:xfrm>
          <a:prstGeom prst="rect">
            <a:avLst/>
          </a:prstGeom>
          <a:solidFill>
            <a:srgbClr val="EEEAE2"/>
          </a:solidFill>
          <a:ln w="12700">
            <a:solidFill>
              <a:srgbClr val="6B6B73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7635240" y="54406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 для иллюстрации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7 — Smithsonian, тактильные элементы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0" y="54406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Пример: V&amp;A, Design and Disability — тактильная карта, аудиоописание, BSL, крупный шрифт, sensory map, зоны отдыха.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ICOM определяет современный музей как доступный и инклюзивный институт; Smithsonian и UNESCO выделяют физическую, информационную и сенсорную доступность.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 ЗАНЯТИЯ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Результат: что должен уметь студент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Дизайн-проект: концепция выставки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371600" cy="621792"/>
          </a:xfrm>
          <a:prstGeom prst="rect">
            <a:avLst/>
          </a:prstGeom>
          <a:solidFill>
            <a:srgbClr val="2A6F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7160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ЗНАЕТ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20240" y="1371600"/>
            <a:ext cx="4480560" cy="621792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1371600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концепция выставки и из каких элементов она состоит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121408"/>
            <a:ext cx="1371600" cy="621792"/>
          </a:xfrm>
          <a:prstGeom prst="rect">
            <a:avLst/>
          </a:prstGeom>
          <a:solidFill>
            <a:srgbClr val="2A6F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2140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УМЕЕТ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920240" y="2121408"/>
            <a:ext cx="4480560" cy="621792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57400" y="2121408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сформулировать большую идею и определить целевую аудиторию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871216"/>
            <a:ext cx="1371600" cy="621792"/>
          </a:xfrm>
          <a:prstGeom prst="rect">
            <a:avLst/>
          </a:prstGeom>
          <a:solidFill>
            <a:srgbClr val="2A6F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87121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УМЕЕТ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920240" y="2871216"/>
            <a:ext cx="4480560" cy="621792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57400" y="2871216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создать простой сценарий движения посетителя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621024"/>
            <a:ext cx="1371600" cy="621792"/>
          </a:xfrm>
          <a:prstGeom prst="rect">
            <a:avLst/>
          </a:prstGeom>
          <a:solidFill>
            <a:srgbClr val="2A6F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621024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УМЕЕТ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920240" y="3621024"/>
            <a:ext cx="4480560" cy="621792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57400" y="3621024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связать содержание выставки с пространственным и визуальным решением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370832"/>
            <a:ext cx="1371600" cy="621792"/>
          </a:xfrm>
          <a:prstGeom prst="rect">
            <a:avLst/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37083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920240" y="4370832"/>
            <a:ext cx="4480560" cy="621792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5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57400" y="4370832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представить и аргументировать собственную концепцию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040880" y="146304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1463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418320" y="146304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0" y="1463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СОДЕРЖАНИЕ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418320" y="320040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18320" y="3200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ПОСЕТИТЕЛЬ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040880" y="320040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A6F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0" y="3200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ПРОСТРАНСТВО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144000" y="1783080"/>
            <a:ext cx="256032" cy="0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469880" y="2121408"/>
            <a:ext cx="0" cy="1060704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H="1">
            <a:off x="9162288" y="3520440"/>
            <a:ext cx="237744" cy="0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V="1">
            <a:off x="8092440" y="2121408"/>
            <a:ext cx="0" cy="1060704"/>
          </a:xfrm>
          <a:prstGeom prst="line">
            <a:avLst/>
          </a:prstGeom>
          <a:noFill/>
          <a:ln w="25400">
            <a:solidFill>
              <a:srgbClr val="6B6B73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040880" y="4206240"/>
            <a:ext cx="4480560" cy="685800"/>
          </a:xfrm>
          <a:prstGeom prst="roundRect">
            <a:avLst>
              <a:gd name="adj" fmla="val 10667"/>
            </a:avLst>
          </a:prstGeom>
          <a:solidFill>
            <a:srgbClr val="DCEBEC"/>
          </a:solidFill>
          <a:ln w="12700">
            <a:solidFill>
              <a:srgbClr val="DCEB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32320" y="42062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ПОСЕТИТЕЛЬ → ОБРАТНАЯ СВЯЗЬ → КОРРЕКЦИЯ КОНЦЕПЦИИ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4292E"/>
          </a:solidFill>
          <a:ln w="12700">
            <a:solidFill>
              <a:srgbClr val="1429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52578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Выставка — не набор экспонатов, а спроектированный опыт посетителя.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ОБЯЗАТЕЛЬНЫЙ РАЗДЕЛ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Библиографический список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Дизайн-проект: концепция выставки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American Alliance of Museums. The Concept of An Exhibition [Электронный ресурс]. 2013. URL: </a:t>
            </a:r>
            <a:pPr indent="0" marL="0">
              <a:buNone/>
            </a:pPr>
            <a:r>
              <a:rPr lang="en-US" sz="1300" u="sng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https://www.aam-us.org/2013/03/01/the-concept-of-an-exhibition/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Kellow C. From Idea to Installation: How a display is made at the V&amp;A [Электронный ресурс]. Victoria and Albert Museum, 2019. URL: </a:t>
            </a:r>
            <a:pPr indent="0" marL="0">
              <a:buNone/>
            </a:pPr>
            <a:r>
              <a:rPr lang="en-US" sz="1300" u="sng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https://www.vam.ac.uk/blog/museum-life/from-idea-to-installation-how-a-display-is-made-at-the-va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Inglesby R. Back to the Drawing Board [Электронный ресурс]. V&amp;A Blog, 2013. URL: </a:t>
            </a:r>
            <a:pPr indent="0" marL="0">
              <a:buNone/>
            </a:pPr>
            <a:r>
              <a:rPr lang="en-US" sz="1300" u="sng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https://www.vam.ac.uk/blog/designing-william-kent/back-drawing-board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Hara Clark. William Kent: Designing Georgian Britain [Электронный ресурс]. URL: [указать ссылку со страницы проекта студии Hara Clark]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González-Lafita A. Young V&amp;A’s Making Egypt exhibition: Materials as storytellers [Электронный ресурс]. V&amp;A Blog, 2025. URL: </a:t>
            </a:r>
            <a:pPr indent="0" marL="0">
              <a:buNone/>
            </a:pPr>
            <a:r>
              <a:rPr lang="en-US" sz="1300" u="sng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https://www.vam.ac.uk/blog/museum-life/young-vas-making-egypt-exhibition-materials-as-storytellers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Guo P., Saab N., Post L. S., Admiraal W. A review of project-based learning in higher education: Student outcomes and measures // International Journal of Educational Research. 2020. DOI: </a:t>
            </a:r>
            <a:pPr indent="0" marL="0">
              <a:buNone/>
            </a:pPr>
            <a:r>
              <a:rPr lang="en-US" sz="1300" u="sng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https://doi.org/10.1016/j.ijer.2020.101586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Virginia Tech. Assessing and Reflecting on Project Work [Электронный ресурс]. Center for Excellence in Teaching and Learning. URL: </a:t>
            </a:r>
            <a:pPr indent="0" marL="0">
              <a:buNone/>
            </a:pPr>
            <a:r>
              <a:rPr lang="en-US" sz="1300" u="sng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https://teaching.vt.edu/teachingresources/project-based-learning/assessing-and-reflecting-on-project-work.html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217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Дата обращения к электронным ресурсам: [указать дату].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ОБЯЗАТЕЛЬНЫЙ РАЗДЕЛ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 иллюстраций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Дизайн-проект: концепция выставки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Рисунок 1. </a:t>
            </a:r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Интерьер выставки Design and Disability. V&amp;A South Kensington, 2025. Фотография: Victoria and Albert Museum, London. Источник: V&amp;A — Design and Disability: exhibition guide. </a:t>
            </a:r>
            <a:pPr indent="0" marL="0">
              <a:buNone/>
            </a:pPr>
            <a:r>
              <a:rPr lang="en-US" sz="1100" u="sng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https://www.vam.ac.uk/articles/design-and-disability-exhibition-guide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Рисунок 2. </a:t>
            </a:r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Архитектурный эскиз здания Всемирной выставки (Great Exhibition Building). Joseph Paxton, 1850. Victoria and Albert Museum, E.575-1985. Источник: V&amp;A — The Great Exhibition of 1851. </a:t>
            </a:r>
            <a:pPr indent="0" marL="0">
              <a:buNone/>
            </a:pPr>
            <a:r>
              <a:rPr lang="en-US" sz="1100" u="sng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https://www.vam.ac.uk/articles/the-great-exhibition-of-1851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Рисунок 3. </a:t>
            </a:r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Эскизы первоначальной планировки выставки William Kent: Designing Georgian Britain. Hara Clark, 2014. Источник: V&amp;A Blog — Back to the Drawing Board. </a:t>
            </a:r>
            <a:pPr indent="0" marL="0">
              <a:buNone/>
            </a:pPr>
            <a:r>
              <a:rPr lang="en-US" sz="1100" u="sng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https://www.vam.ac.uk/blog/designing-william-kent/back-drawing-board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Рисунок 4. </a:t>
            </a:r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Kent: Designing Georgian Britain. Exhibition design: Hara Clark. V&amp;A, London, 2014. Фотография: Nick Wood. Источник: Hara Clark — William Kent: Designing Georgian Britain. [указать ссылку]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Рисунок 5. </a:t>
            </a:r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Интерьер выставки Making Egypt. Young V&amp;A, 2025. Фотография: Gareth Gardner. Источник: V&amp;A — Making Egypt: Secrets of the exhibition’s design. </a:t>
            </a:r>
            <a:pPr indent="0" marL="0">
              <a:buNone/>
            </a:pPr>
            <a:r>
              <a:rPr lang="en-US" sz="1100" u="sng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https://www.vam.ac.uk/blog/museum-life/young-vas-making-egypt-secrets-of-the-exhibitions-design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Рисунок 6. </a:t>
            </a:r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Экспозиция Design and Disability, раздел Tools. V&amp;A South Kensington, 2025. Фотография: Victoria and Albert Museum, London. Источник: V&amp;A — Design and Disability: exhibition guide. </a:t>
            </a:r>
            <a:pPr indent="0" marL="0">
              <a:buNone/>
            </a:pPr>
            <a:r>
              <a:rPr lang="en-US" sz="1100" u="sng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https://www.vam.ac.uk/articles/design-and-disability-exhibition-guide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Рисунок 7. </a:t>
            </a:r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Тактильные и доступные элементы музейной экспозиции. National Museum of American History, Smithsonian Institution. Источник: Smithsonian — Tactile Elements and Accessible Exhibition Features. </a:t>
            </a:r>
            <a:pPr indent="0" marL="0">
              <a:buNone/>
            </a:pPr>
            <a:r>
              <a:rPr lang="en-US" sz="1100" u="sng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https://americanhistory.si.edu/visit/accessibility/tactile-elements-and-accessible-exhibition-features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Рисунок 8. </a:t>
            </a:r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Материалы и экспозиционное оборудование выставки Making Egypt. Young V&amp;A, 2025. Источник: V&amp;A — Making Egypt: Secrets of the exhibition’s design. </a:t>
            </a:r>
            <a:pPr indent="0" marL="0">
              <a:buNone/>
            </a:pPr>
            <a:r>
              <a:rPr lang="en-US" sz="1100" u="sng" dirty="0">
                <a:solidFill>
                  <a:srgbClr val="2A6F7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https://www.vam.ac.uk/blog/museum-life/young-vas-making-egypt-secrets-of-the-exhibitions-design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Дизайн-проект: концепция выставки</dc:title>
  <dc:subject>PptxGenJS Presentation</dc:subject>
  <dc:creator>PptxGenJS</dc:creator>
  <cp:lastModifiedBy>PptxGenJS</cp:lastModifiedBy>
  <cp:revision>1</cp:revision>
  <dcterms:created xsi:type="dcterms:W3CDTF">2026-10-08T10:37:26Z</dcterms:created>
  <dcterms:modified xsi:type="dcterms:W3CDTF">2026-10-08T10:37:26Z</dcterms:modified>
</cp:coreProperties>
</file>